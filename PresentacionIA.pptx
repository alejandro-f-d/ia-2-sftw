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CB458B-735B-4808-AB19-12A86F96C258}">
  <a:tblStyle styleId="{0FCB458B-735B-4808-AB19-12A86F96C2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4c5663337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e4c5663337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4c5663337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4c5663337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e4c5663337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4c5663337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cd775d3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e4cd775d3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4cd775d3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4ca46d81c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e4ca46d81c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e4ca46d81c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4cd775d33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e4cd775d33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4cd775d33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4cd775d33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e4cd775d33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e4cd775d33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94360" y="1371600"/>
            <a:ext cx="8046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Artificial Intelligence And Open Science In Research Software Engineering 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94360" y="31089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8AD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8FB8AD"/>
                </a:solidFill>
                <a:latin typeface="Calibri"/>
                <a:ea typeface="Calibri"/>
                <a:cs typeface="Calibri"/>
                <a:sym typeface="Calibri"/>
              </a:rPr>
              <a:t>Grupo 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46760" y="458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8A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B8AD"/>
                </a:solidFill>
                <a:latin typeface="Calibri"/>
                <a:ea typeface="Calibri"/>
                <a:cs typeface="Calibri"/>
                <a:sym typeface="Calibri"/>
              </a:rPr>
              <a:t>Janele </a:t>
            </a:r>
            <a:r>
              <a:rPr lang="en-US" sz="1000">
                <a:solidFill>
                  <a:srgbClr val="8FB8AD"/>
                </a:solidFill>
                <a:latin typeface="Calibri"/>
                <a:ea typeface="Calibri"/>
                <a:cs typeface="Calibri"/>
                <a:sym typeface="Calibri"/>
              </a:rPr>
              <a:t>Sandonas</a:t>
            </a:r>
            <a:r>
              <a:rPr b="0" i="0" lang="en-US" sz="1000" u="none" cap="none" strike="noStrike">
                <a:solidFill>
                  <a:srgbClr val="8FB8AD"/>
                </a:solidFill>
                <a:latin typeface="Calibri"/>
                <a:ea typeface="Calibri"/>
                <a:cs typeface="Calibri"/>
                <a:sym typeface="Calibri"/>
              </a:rPr>
              <a:t> · Alejandro Fisac · Juan S. Torres · Andrés Voronovskyy  |  UPM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¿Qué hace la herramienta?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4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4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60" y="126187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Dado un paper de entrada (PDF), la herramienta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permite al usuario ampliar información  y saber 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qué otros artículos del corpus son más similares a él, usando grafos de conocimiento y metadatos de fuentes abiertas.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2011680"/>
            <a:ext cx="2514600" cy="118872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205740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2441448"/>
            <a:ext cx="2514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PDF de paper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científico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2971800" y="2606040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/>
          <p:nvPr/>
        </p:nvSpPr>
        <p:spPr>
          <a:xfrm>
            <a:off x="3291840" y="2011680"/>
            <a:ext cx="2514600" cy="118872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291840" y="205740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91840" y="2441448"/>
            <a:ext cx="2514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Extracción  Enriquecimiento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Similaridad  Topic Modeling  NER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5806440" y="2606040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4"/>
          <p:cNvSpPr/>
          <p:nvPr/>
        </p:nvSpPr>
        <p:spPr>
          <a:xfrm>
            <a:off x="6126480" y="2011680"/>
            <a:ext cx="2514600" cy="118872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126480" y="205740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126480" y="2441448"/>
            <a:ext cx="2514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Papers similares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rankeados por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3383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Fuentes externas usadas: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3703320"/>
            <a:ext cx="2011680" cy="77724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38912" y="3749040"/>
            <a:ext cx="1865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Grobid 0.8.2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38912" y="4023360"/>
            <a:ext cx="1865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PDF 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XML estructurado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542032" y="3703320"/>
            <a:ext cx="2011680" cy="77724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615184" y="3749040"/>
            <a:ext cx="1865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ORCID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615184" y="4023360"/>
            <a:ext cx="1865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Identificación de autores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718304" y="3703320"/>
            <a:ext cx="2011680" cy="77724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791456" y="3749040"/>
            <a:ext cx="1865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Wikidata SPARQL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791456" y="4023360"/>
            <a:ext cx="1865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Enriquecimiento de organizaciones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894576" y="3703320"/>
            <a:ext cx="2011680" cy="77724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967728" y="3749040"/>
            <a:ext cx="18653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OpenAlex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967728" y="4023360"/>
            <a:ext cx="1865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Metadatos de publicaciones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General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módulos Docker  orquestados con docker-compose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Arquitectura – 6 módulos Docker en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6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  docker-compose.yml  orquesta el orden de arranque y los volúmenes compartidos entre todos los contenedores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20040" y="1417320"/>
            <a:ext cx="1371600" cy="5120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320040" y="1417320"/>
            <a:ext cx="1371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pygrobid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719072" y="1453896"/>
            <a:ext cx="329184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1828800" y="145389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 PDF → XML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828800" y="1655064"/>
            <a:ext cx="3063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input/*.pdf → output/*.xml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120640" y="1453896"/>
            <a:ext cx="370332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5230368" y="1545336"/>
            <a:ext cx="3493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Deps: Grobid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777240" y="1984248"/>
            <a:ext cx="0" cy="54864"/>
          </a:xfrm>
          <a:prstGeom prst="straightConnector1">
            <a:avLst/>
          </a:prstGeom>
          <a:noFill/>
          <a:ln cap="flat" cmpd="sng" w="190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6"/>
          <p:cNvSpPr/>
          <p:nvPr/>
        </p:nvSpPr>
        <p:spPr>
          <a:xfrm>
            <a:off x="320040" y="2002536"/>
            <a:ext cx="1371600" cy="512064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20040" y="2002536"/>
            <a:ext cx="1371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pyextractdata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719072" y="2039112"/>
            <a:ext cx="329184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1828800" y="203911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 XML →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828800" y="2240280"/>
            <a:ext cx="3063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*.xml → abstract/doi/ack/people txt + KG.ttl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120640" y="2039112"/>
            <a:ext cx="370332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5230368" y="2130552"/>
            <a:ext cx="3493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Deps: BeautifulSoup · rdflib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6"/>
          <p:cNvCxnSpPr/>
          <p:nvPr/>
        </p:nvCxnSpPr>
        <p:spPr>
          <a:xfrm>
            <a:off x="777240" y="2569464"/>
            <a:ext cx="0" cy="54864"/>
          </a:xfrm>
          <a:prstGeom prst="straightConnector1">
            <a:avLst/>
          </a:prstGeom>
          <a:noFill/>
          <a:ln cap="flat" cmpd="sng" w="190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6"/>
          <p:cNvSpPr/>
          <p:nvPr/>
        </p:nvSpPr>
        <p:spPr>
          <a:xfrm>
            <a:off x="320040" y="2587752"/>
            <a:ext cx="1371600" cy="5120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320040" y="2587752"/>
            <a:ext cx="1371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pyorcid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719072" y="2624328"/>
            <a:ext cx="329184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1828800" y="262432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 ORCID enrich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828800" y="2825496"/>
            <a:ext cx="3063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*_people.txt → *_orcid.json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120640" y="2624328"/>
            <a:ext cx="370332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230368" y="2715768"/>
            <a:ext cx="3493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Deps: ORCID REST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777240" y="3154680"/>
            <a:ext cx="0" cy="54864"/>
          </a:xfrm>
          <a:prstGeom prst="straightConnector1">
            <a:avLst/>
          </a:prstGeom>
          <a:noFill/>
          <a:ln cap="flat" cmpd="sng" w="190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6"/>
          <p:cNvSpPr/>
          <p:nvPr/>
        </p:nvSpPr>
        <p:spPr>
          <a:xfrm>
            <a:off x="320040" y="3172968"/>
            <a:ext cx="1371600" cy="5120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20040" y="3172968"/>
            <a:ext cx="1371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pywikidata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719072" y="3209544"/>
            <a:ext cx="329184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1828800" y="320954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 Wikidata enrich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828800" y="3410712"/>
            <a:ext cx="3063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afiliaciones → *_wiki.json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120640" y="3209544"/>
            <a:ext cx="370332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230368" y="3300984"/>
            <a:ext cx="3493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Deps: Wikidata SPARQL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6"/>
          <p:cNvCxnSpPr/>
          <p:nvPr/>
        </p:nvCxnSpPr>
        <p:spPr>
          <a:xfrm>
            <a:off x="777240" y="3739896"/>
            <a:ext cx="0" cy="54864"/>
          </a:xfrm>
          <a:prstGeom prst="straightConnector1">
            <a:avLst/>
          </a:prstGeom>
          <a:noFill/>
          <a:ln cap="flat" cmpd="sng" w="190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6"/>
          <p:cNvSpPr/>
          <p:nvPr/>
        </p:nvSpPr>
        <p:spPr>
          <a:xfrm>
            <a:off x="320040" y="3758184"/>
            <a:ext cx="1371600" cy="5120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20040" y="3758184"/>
            <a:ext cx="1371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pyopenalex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719072" y="3794760"/>
            <a:ext cx="329184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828800" y="379476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 OpenAlex enrich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828800" y="3995928"/>
            <a:ext cx="3063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doi/title → *_openalex.json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120640" y="3794760"/>
            <a:ext cx="370332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230368" y="3886200"/>
            <a:ext cx="3493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Deps: OpenAlex REST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6"/>
          <p:cNvCxnSpPr/>
          <p:nvPr/>
        </p:nvCxnSpPr>
        <p:spPr>
          <a:xfrm>
            <a:off x="777240" y="4325112"/>
            <a:ext cx="0" cy="54864"/>
          </a:xfrm>
          <a:prstGeom prst="straightConnector1">
            <a:avLst/>
          </a:prstGeom>
          <a:noFill/>
          <a:ln cap="flat" cmpd="sng" w="190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6"/>
          <p:cNvSpPr/>
          <p:nvPr/>
        </p:nvSpPr>
        <p:spPr>
          <a:xfrm>
            <a:off x="320040" y="4343400"/>
            <a:ext cx="1371600" cy="512064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20040" y="4343400"/>
            <a:ext cx="1371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pyclustering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719072" y="4379976"/>
            <a:ext cx="329184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828800" y="437997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 Similarity+Topics+NER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828800" y="4581144"/>
            <a:ext cx="3063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abstracts/acks → similarity.json · topics.json · 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120640" y="4379976"/>
            <a:ext cx="3703320" cy="43891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230368" y="4471416"/>
            <a:ext cx="3493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Deps: sentence-transformers · BERTopic · RoBERTa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365760" y="128016"/>
            <a:ext cx="8412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365760" y="786384"/>
            <a:ext cx="841260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7" name="Google Shape;127;p7" title="flujo-ejecu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1813" y="859641"/>
            <a:ext cx="2480381" cy="4052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548640" y="1554480"/>
            <a:ext cx="8046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Ontologia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48640" y="2743200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Un breve resumen</a:t>
            </a:r>
            <a:endParaRPr i="1" sz="1700">
              <a:solidFill>
                <a:srgbClr val="D8F3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365760" y="128016"/>
            <a:ext cx="8412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Ontologia Final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9"/>
          <p:cNvCxnSpPr/>
          <p:nvPr/>
        </p:nvCxnSpPr>
        <p:spPr>
          <a:xfrm>
            <a:off x="365760" y="786384"/>
            <a:ext cx="841260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9" title="ontolog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014100"/>
            <a:ext cx="7213251" cy="38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1  pygrobid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PDF </a:t>
            </a:r>
            <a:r>
              <a:rPr i="1" lang="en-US" sz="17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XML estructurado mediante Grobid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pygrobid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¿Cómo extrae datos del PDF?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1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1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Grobid (0.8.2) es un servicio ML que analiza PDFs académicos y devuelve TEI-XML con campos estructurados.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457200" y="1463040"/>
            <a:ext cx="178308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457200" y="149047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457200" y="18288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paper.pdf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1"/>
          <p:cNvCxnSpPr/>
          <p:nvPr/>
        </p:nvCxnSpPr>
        <p:spPr>
          <a:xfrm>
            <a:off x="2240280" y="192024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11"/>
          <p:cNvSpPr/>
          <p:nvPr/>
        </p:nvSpPr>
        <p:spPr>
          <a:xfrm>
            <a:off x="2560320" y="1463040"/>
            <a:ext cx="178308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2560320" y="149047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2560320" y="18288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HTTP POST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/api/processFulltextDocument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11"/>
          <p:cNvCxnSpPr/>
          <p:nvPr/>
        </p:nvCxnSpPr>
        <p:spPr>
          <a:xfrm>
            <a:off x="4343400" y="192024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4663440" y="1463040"/>
            <a:ext cx="1783080" cy="91440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4663440" y="149047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4663440" y="18288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Grobid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0.8.2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1"/>
          <p:cNvCxnSpPr/>
          <p:nvPr/>
        </p:nvCxnSpPr>
        <p:spPr>
          <a:xfrm>
            <a:off x="6446520" y="192024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1"/>
          <p:cNvSpPr/>
          <p:nvPr/>
        </p:nvSpPr>
        <p:spPr>
          <a:xfrm>
            <a:off x="6766560" y="1463040"/>
            <a:ext cx="178308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6766560" y="149047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766560" y="182880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paper.xml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(TEI-XML)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365760" y="2560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Campos extraídos del XML resultante: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365760" y="2880360"/>
            <a:ext cx="4023360" cy="38404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502920" y="2916936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&lt;title&gt; </a:t>
            </a:r>
            <a:r>
              <a:rPr lang="en-US" sz="1000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 Título del artículo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365760" y="3310128"/>
            <a:ext cx="4023360" cy="38404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502920" y="3346704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&lt;abstract&gt; </a:t>
            </a:r>
            <a:r>
              <a:rPr lang="en-US" sz="1000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 Resumen completo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365760" y="3739896"/>
            <a:ext cx="4023360" cy="38404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502920" y="377647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&lt;author&gt; </a:t>
            </a:r>
            <a:r>
              <a:rPr lang="en-US" sz="1000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 Nombres y afiliaciones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663440" y="2880360"/>
            <a:ext cx="4023360" cy="38404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4800600" y="2916936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&lt;biblStruct&gt; </a:t>
            </a:r>
            <a:r>
              <a:rPr lang="en-US" sz="1000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 Referencias bibliográficas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663440" y="3310128"/>
            <a:ext cx="4023360" cy="38404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4800600" y="3346704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&lt;acknowledgement&gt; </a:t>
            </a:r>
            <a:r>
              <a:rPr lang="en-US" sz="1000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 Sección de agradecimientos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663440" y="3739896"/>
            <a:ext cx="4023360" cy="384048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4800600" y="377647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&lt;idno type='DOI'&gt; </a:t>
            </a:r>
            <a:r>
              <a:rPr lang="en-US" sz="1000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0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 Identificador DOI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2  pyextractdata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XML </a:t>
            </a:r>
            <a:r>
              <a:rPr i="1" lang="en-US" sz="17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datos estructurados + NER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pyextractdata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Parsing XM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3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3"/>
          <p:cNvSpPr/>
          <p:nvPr/>
        </p:nvSpPr>
        <p:spPr>
          <a:xfrm>
            <a:off x="365741" y="1325875"/>
            <a:ext cx="8126100" cy="43890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619685" y="1362451"/>
            <a:ext cx="355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*_abstract.txt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4174898" y="1362451"/>
            <a:ext cx="406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Texto del abstract limpio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365741" y="1828797"/>
            <a:ext cx="8126100" cy="43890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619685" y="1865373"/>
            <a:ext cx="355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*_title_doi.txt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4174898" y="1865373"/>
            <a:ext cx="406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DOI del paper si no tiene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, el titulo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365741" y="2331718"/>
            <a:ext cx="8126100" cy="43890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619685" y="2368294"/>
            <a:ext cx="355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*_people.txt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4174898" y="2368294"/>
            <a:ext cx="406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Nombres de autores y afiliaciones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365741" y="2834640"/>
            <a:ext cx="8126100" cy="438900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619685" y="2871216"/>
            <a:ext cx="355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*_ack.txt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4174898" y="2871216"/>
            <a:ext cx="406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Sección de acknowledgements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65741" y="3337562"/>
            <a:ext cx="8126100" cy="43890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619685" y="3374138"/>
            <a:ext cx="355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D8F3DC"/>
                </a:solidFill>
                <a:latin typeface="Consolas"/>
                <a:ea typeface="Consolas"/>
                <a:cs typeface="Consolas"/>
                <a:sym typeface="Consolas"/>
              </a:rPr>
              <a:t>knowledge_graph.</a:t>
            </a:r>
            <a:r>
              <a:rPr b="1" lang="en-US" sz="950">
                <a:solidFill>
                  <a:srgbClr val="D8F3DC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4174898" y="3374138"/>
            <a:ext cx="406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Grafo RDF inicial (Turtle)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extractdata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NER en sección Acknowledgements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4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4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Modelo: Jean-Baptiste/roberta-large-ner-english (HuggingFace Transformers)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320040" y="1325880"/>
            <a:ext cx="1920240" cy="100584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320040" y="1353312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320040" y="16642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*_ack.txt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(texto crudo)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4"/>
          <p:cNvCxnSpPr/>
          <p:nvPr/>
        </p:nvCxnSpPr>
        <p:spPr>
          <a:xfrm>
            <a:off x="2240280" y="1828800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4"/>
          <p:cNvSpPr/>
          <p:nvPr/>
        </p:nvSpPr>
        <p:spPr>
          <a:xfrm>
            <a:off x="2496312" y="1325880"/>
            <a:ext cx="1920240" cy="100584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2496312" y="1353312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2496312" y="16642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Tokenización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RoBERTa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14"/>
          <p:cNvCxnSpPr/>
          <p:nvPr/>
        </p:nvCxnSpPr>
        <p:spPr>
          <a:xfrm>
            <a:off x="4416552" y="1828800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14"/>
          <p:cNvSpPr/>
          <p:nvPr/>
        </p:nvSpPr>
        <p:spPr>
          <a:xfrm>
            <a:off x="4672584" y="1325880"/>
            <a:ext cx="1920240" cy="100584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4672584" y="1353312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🏷️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4672584" y="16642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NER tagging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 scheme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4"/>
          <p:cNvCxnSpPr/>
          <p:nvPr/>
        </p:nvCxnSpPr>
        <p:spPr>
          <a:xfrm>
            <a:off x="6592824" y="1828800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4"/>
          <p:cNvSpPr/>
          <p:nvPr/>
        </p:nvSpPr>
        <p:spPr>
          <a:xfrm>
            <a:off x="6848856" y="1325880"/>
            <a:ext cx="1920240" cy="100584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6848856" y="1353312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6848856" y="166420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Entidades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extraídas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(PER/ORG/LOC/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PROJ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365760" y="2468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Tipos de entidades reconocidas y su uso en el KG: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320040" y="2834640"/>
            <a:ext cx="658368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320040" y="2834640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1005840" y="2834640"/>
            <a:ext cx="781812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1115568" y="286207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Persona: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1115568" y="3063240"/>
            <a:ext cx="7543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Investigadores mencionados en agradecimientos 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vinculados a ns:Person en el KG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320040" y="3337560"/>
            <a:ext cx="658368" cy="43891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320040" y="3337560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005840" y="3337560"/>
            <a:ext cx="781812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1115568" y="336499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Organización: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115568" y="3566160"/>
            <a:ext cx="7543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Universidades, agencias, empresas 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vinculadas a ns:Organization y enriquecidas con Wikidata/ORCID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320040" y="3840480"/>
            <a:ext cx="658368" cy="43891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320040" y="3840480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1005840" y="3840480"/>
            <a:ext cx="781812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1115568" y="386791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Lugar: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1115568" y="4069080"/>
            <a:ext cx="7543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Países, ciudades, regiones donde se realizó la investigación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320040" y="4343400"/>
            <a:ext cx="658368" cy="43891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320040" y="4343400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005840" y="4343400"/>
            <a:ext cx="7818120" cy="4389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1115568" y="43708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ID Proyecto</a:t>
            </a:r>
            <a:r>
              <a:rPr b="1" i="0" lang="en-US" sz="105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1115568" y="4572000"/>
            <a:ext cx="7543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royectos (H2020-XXXXX, FPU…) -&gt; añadido 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mediante funciones 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365760" y="128016"/>
            <a:ext cx="8412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extractdata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Validación del NER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5"/>
          <p:cNvCxnSpPr/>
          <p:nvPr/>
        </p:nvCxnSpPr>
        <p:spPr>
          <a:xfrm>
            <a:off x="365760" y="786384"/>
            <a:ext cx="841260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5"/>
          <p:cNvSpPr/>
          <p:nvPr/>
        </p:nvSpPr>
        <p:spPr>
          <a:xfrm>
            <a:off x="365760" y="91440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Corpus de validación: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5" name="Google Shape;275;p15"/>
          <p:cNvGraphicFramePr/>
          <p:nvPr/>
        </p:nvGraphicFramePr>
        <p:xfrm>
          <a:off x="952550" y="13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{0FCB458B-735B-4808-AB19-12A86F96C258}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Entidad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Precisión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Recall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8F3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ORG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LOC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PROJ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6" name="Google Shape;276;p15"/>
          <p:cNvSpPr/>
          <p:nvPr/>
        </p:nvSpPr>
        <p:spPr>
          <a:xfrm>
            <a:off x="182040" y="3848100"/>
            <a:ext cx="420630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182040" y="3848100"/>
            <a:ext cx="639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319200" y="3902964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319200" y="3976125"/>
            <a:ext cx="393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LOC y PROJ</a:t>
            </a:r>
            <a:r>
              <a:rPr lang="en-US" sz="800">
                <a:solidFill>
                  <a:schemeClr val="dk1"/>
                </a:solidFill>
              </a:rPr>
              <a:t> -&gt; detección perfecta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ORG </a:t>
            </a:r>
            <a:r>
              <a:rPr lang="en-US" sz="800">
                <a:solidFill>
                  <a:schemeClr val="dk1"/>
                </a:solidFill>
              </a:rPr>
              <a:t>-&gt; F1 0.80, falla en organizaciones largas que el modelo divide en dos entidades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PER </a:t>
            </a:r>
            <a:r>
              <a:rPr lang="en-US" sz="800">
                <a:solidFill>
                  <a:schemeClr val="dk1"/>
                </a:solidFill>
              </a:rPr>
              <a:t>-&gt; 0 porque estos papers no mencionan personas en agradecimientos, no es un fallo del modelo</a:t>
            </a:r>
            <a:endParaRPr sz="105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4815240" y="3848100"/>
            <a:ext cx="420630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4815240" y="3848100"/>
            <a:ext cx="63900" cy="9144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4952400" y="3902964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Mejoras implementadas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4952400" y="4177284"/>
            <a:ext cx="3931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Fusión de </a:t>
            </a:r>
            <a:r>
              <a:rPr b="1"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acrónimos duplicados</a:t>
            </a:r>
            <a:endParaRPr b="1" sz="8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Funciones para implementar IDs de proyectos</a:t>
            </a:r>
            <a:endParaRPr sz="8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Filtro de confianza al 85%</a:t>
            </a:r>
            <a:endParaRPr sz="8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 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pyclustering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Similarity  Topic Modeling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pyclustering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Cálculo de similitud semántica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7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7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Modelo: sentence-transformers / all-MiniLM-L6-v2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320040" y="1371600"/>
            <a:ext cx="1920240" cy="105156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320040" y="139903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320040" y="1719072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*_abstract.txt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(30 abstracts)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7"/>
          <p:cNvCxnSpPr/>
          <p:nvPr/>
        </p:nvCxnSpPr>
        <p:spPr>
          <a:xfrm>
            <a:off x="2240280" y="1892808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7"/>
          <p:cNvSpPr/>
          <p:nvPr/>
        </p:nvSpPr>
        <p:spPr>
          <a:xfrm>
            <a:off x="2496312" y="1371600"/>
            <a:ext cx="1920240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2496312" y="139903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2496312" y="1719072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(384-dim vector)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7"/>
          <p:cNvCxnSpPr/>
          <p:nvPr/>
        </p:nvCxnSpPr>
        <p:spPr>
          <a:xfrm>
            <a:off x="4416552" y="1892808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7"/>
          <p:cNvSpPr/>
          <p:nvPr/>
        </p:nvSpPr>
        <p:spPr>
          <a:xfrm>
            <a:off x="4672584" y="1371600"/>
            <a:ext cx="1920240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4672584" y="139903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4672584" y="1719072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Similarity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matrix 30×30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17"/>
          <p:cNvCxnSpPr/>
          <p:nvPr/>
        </p:nvCxnSpPr>
        <p:spPr>
          <a:xfrm>
            <a:off x="6592824" y="1892808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7"/>
          <p:cNvSpPr/>
          <p:nvPr/>
        </p:nvSpPr>
        <p:spPr>
          <a:xfrm>
            <a:off x="6848856" y="1371600"/>
            <a:ext cx="1920240" cy="105156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6848856" y="139903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6848856" y="1719072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Top-5 similares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por paper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 similarity.json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365760" y="26060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similarity.json </a:t>
            </a:r>
            <a:r>
              <a:rPr b="1"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estructura de salida: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365760" y="2926080"/>
            <a:ext cx="4114800" cy="1920300"/>
          </a:xfrm>
          <a:prstGeom prst="rect">
            <a:avLst/>
          </a:prstGeom>
          <a:solidFill>
            <a:srgbClr val="1E3A2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475488" y="3017520"/>
            <a:ext cx="3895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"paper7": [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  { "paper": "paper3",  "score": 0.912 },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  { "paper": "paper17", "score": 0.883 },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  { "paper": "paper23", "score": 0.871 },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  { "paper": "paper10", "score": 0.856 },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  { "paper": "paper0",  "score": 0.841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"paper0": [ ...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4754880" y="2926080"/>
            <a:ext cx="4023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Métrica: similitud coseno entre embeddings del abstract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Umbral mínimo: 0.80  |  Top-K: 5 papers por consulta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4754880" y="4160520"/>
            <a:ext cx="4023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Los scores se almacenan en el Knowledge Graph como ns:SimilarityStatement con valor numérico y referencia a ambos papers.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pyclustering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Topic Modeling con BERTopic + KeyBERT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8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8"/>
          <p:cNvSpPr/>
          <p:nvPr/>
        </p:nvSpPr>
        <p:spPr>
          <a:xfrm>
            <a:off x="256032" y="914400"/>
            <a:ext cx="1572768" cy="86868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"/>
          <p:cNvSpPr/>
          <p:nvPr/>
        </p:nvSpPr>
        <p:spPr>
          <a:xfrm>
            <a:off x="256032" y="941832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256032" y="124358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Abstracts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(texto)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18"/>
          <p:cNvCxnSpPr/>
          <p:nvPr/>
        </p:nvCxnSpPr>
        <p:spPr>
          <a:xfrm>
            <a:off x="1828800" y="1344168"/>
            <a:ext cx="182880" cy="0"/>
          </a:xfrm>
          <a:prstGeom prst="straightConnector1">
            <a:avLst/>
          </a:prstGeom>
          <a:noFill/>
          <a:ln cap="flat" cmpd="sng" w="228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18"/>
          <p:cNvSpPr/>
          <p:nvPr/>
        </p:nvSpPr>
        <p:spPr>
          <a:xfrm>
            <a:off x="2011680" y="914400"/>
            <a:ext cx="1572768" cy="86868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2011680" y="941832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2011680" y="124358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 reduction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8"/>
          <p:cNvCxnSpPr/>
          <p:nvPr/>
        </p:nvCxnSpPr>
        <p:spPr>
          <a:xfrm>
            <a:off x="3584448" y="1344168"/>
            <a:ext cx="182880" cy="0"/>
          </a:xfrm>
          <a:prstGeom prst="straightConnector1">
            <a:avLst/>
          </a:prstGeom>
          <a:noFill/>
          <a:ln cap="flat" cmpd="sng" w="228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18"/>
          <p:cNvSpPr/>
          <p:nvPr/>
        </p:nvSpPr>
        <p:spPr>
          <a:xfrm>
            <a:off x="3767328" y="914400"/>
            <a:ext cx="1572768" cy="86868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3767328" y="941832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3767328" y="124358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HDBSCAN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18"/>
          <p:cNvCxnSpPr/>
          <p:nvPr/>
        </p:nvCxnSpPr>
        <p:spPr>
          <a:xfrm>
            <a:off x="5340096" y="1344168"/>
            <a:ext cx="182880" cy="0"/>
          </a:xfrm>
          <a:prstGeom prst="straightConnector1">
            <a:avLst/>
          </a:prstGeom>
          <a:noFill/>
          <a:ln cap="flat" cmpd="sng" w="228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18"/>
          <p:cNvSpPr/>
          <p:nvPr/>
        </p:nvSpPr>
        <p:spPr>
          <a:xfrm>
            <a:off x="5522976" y="914400"/>
            <a:ext cx="1572768" cy="86868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5522976" y="941832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🏷️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5522976" y="124358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BERTopic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topic labels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8"/>
          <p:cNvCxnSpPr/>
          <p:nvPr/>
        </p:nvCxnSpPr>
        <p:spPr>
          <a:xfrm>
            <a:off x="7095744" y="1344168"/>
            <a:ext cx="182880" cy="0"/>
          </a:xfrm>
          <a:prstGeom prst="straightConnector1">
            <a:avLst/>
          </a:prstGeom>
          <a:noFill/>
          <a:ln cap="flat" cmpd="sng" w="22850">
            <a:solidFill>
              <a:srgbClr val="52B7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8"/>
          <p:cNvSpPr/>
          <p:nvPr/>
        </p:nvSpPr>
        <p:spPr>
          <a:xfrm>
            <a:off x="7278624" y="914400"/>
            <a:ext cx="1572768" cy="868680"/>
          </a:xfrm>
          <a:prstGeom prst="rect">
            <a:avLst/>
          </a:prstGeom>
          <a:solidFill>
            <a:srgbClr val="52B7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7278624" y="941832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7278624" y="124358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KeyBERT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keywords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365760" y="1920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Ficheros de salida: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365760" y="2286000"/>
            <a:ext cx="4160520" cy="1371600"/>
          </a:xfrm>
          <a:prstGeom prst="rect">
            <a:avLst/>
          </a:prstGeom>
          <a:solidFill>
            <a:srgbClr val="1E3A2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8"/>
          <p:cNvSpPr/>
          <p:nvPr/>
        </p:nvSpPr>
        <p:spPr>
          <a:xfrm>
            <a:off x="475488" y="2377440"/>
            <a:ext cx="394106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// topics.json – label + keywords de cada 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"0": { "label": "Food supply chain waste",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       "keywords": ["supply chain","retail","logistics"] },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"1": { "label": "Consumer behavior",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         "keywords": ["household","consumer","purchasing"]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4663440" y="2286000"/>
            <a:ext cx="4160520" cy="1371600"/>
          </a:xfrm>
          <a:prstGeom prst="rect">
            <a:avLst/>
          </a:prstGeom>
          <a:solidFill>
            <a:srgbClr val="1E3A2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4773168" y="2377440"/>
            <a:ext cx="394106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// paper_topics.json – asignación de 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{ "paper0": 0, "paper1": 1, "paper3": 2, ...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// paper_topic_distribution.json – probabilidades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A8D5BE"/>
                </a:solidFill>
                <a:latin typeface="Consolas"/>
                <a:ea typeface="Consolas"/>
                <a:cs typeface="Consolas"/>
                <a:sym typeface="Consolas"/>
              </a:rPr>
              <a:t>{ "paper0": { "0":0.82, "1":0.11, "2":0.07 }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Los tópicos y su asignación se integran en el Knowledge Graph como ns:Topic y se vinculan a cada ns:Paper.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365760" y="42062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Hiperparámetros clave: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365760" y="4498848"/>
            <a:ext cx="2011680" cy="3200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457200" y="453542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n_neighbors=15 (UMAP)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2542032" y="4498848"/>
            <a:ext cx="2011680" cy="3200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2633472" y="453542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min_cluster_size=2 (HDBSCAN)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718304" y="4498848"/>
            <a:ext cx="2011680" cy="3200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4809744" y="453542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top_n_words=5 (KeyBERT)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6894576" y="4498848"/>
            <a:ext cx="2011680" cy="32004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6986016" y="453542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nr_topics='auto'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Módulos 4-5-6  Enriquecimiento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ORCID </a:t>
            </a:r>
            <a:r>
              <a:rPr i="1" lang="en-US" sz="17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Wikidata </a:t>
            </a:r>
            <a:r>
              <a:rPr i="1" lang="en-US" sz="17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OpenAlex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Enriquecimiento de metadatos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3 módulos en paralelo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20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20"/>
          <p:cNvSpPr/>
          <p:nvPr/>
        </p:nvSpPr>
        <p:spPr>
          <a:xfrm>
            <a:off x="274320" y="914400"/>
            <a:ext cx="2788920" cy="393192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274320" y="914400"/>
            <a:ext cx="2788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347472" y="941832"/>
            <a:ext cx="2633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🪪  pyorcid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365760" y="150876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Trigger: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365760" y="170992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Autores con ORCID en *_people.txt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365760" y="224028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Llamada a la API</a:t>
            </a: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365760" y="244144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{Client_URl}/v3.0/{Orcid_Id}/record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365760" y="297180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Devuelve: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365760" y="317296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Información relevante sobre los autores y las Organizaciones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3246120" y="914400"/>
            <a:ext cx="2788920" cy="393192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3246120" y="914400"/>
            <a:ext cx="278892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0"/>
          <p:cNvSpPr/>
          <p:nvPr/>
        </p:nvSpPr>
        <p:spPr>
          <a:xfrm>
            <a:off x="3319272" y="941832"/>
            <a:ext cx="2633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🌍  pywikidata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3337560" y="150876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Trigger: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3337560" y="170992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DOI o título del paper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3337560" y="224028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Query: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3337550" y="2441450"/>
            <a:ext cx="26061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SELECT ?item ?doi WHERE {{</a:t>
            </a:r>
            <a:endParaRPr i="1" sz="9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?item wdt:P31 wd:Q13442814 ;</a:t>
            </a:r>
            <a:endParaRPr i="1" sz="9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      wdt:P1476 "{doi}"@en ;</a:t>
            </a:r>
            <a:endParaRPr i="1" sz="9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      wdt:P356 ?doi .</a:t>
            </a:r>
            <a:endParaRPr i="1" sz="9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i="1" sz="9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3337573" y="3337550"/>
            <a:ext cx="2606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Devuelve: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3337560" y="3538718"/>
            <a:ext cx="260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Datos del paper, Revista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6217920" y="914400"/>
            <a:ext cx="2788920" cy="393192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6217920" y="914400"/>
            <a:ext cx="278892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6291072" y="941832"/>
            <a:ext cx="26334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pyopenalex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6309360" y="150876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Trigger: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6309360" y="170992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DOI o título del paper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6309360" y="224028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Llamada a la API</a:t>
            </a:r>
            <a:r>
              <a:rPr b="1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6309360" y="244144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https://api.openalex.org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6309360" y="297180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Devuelve: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6309360" y="317296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Valores de apoyo en caso de que no se encuentren en los usos previos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548640" y="1554480"/>
            <a:ext cx="8046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Módulos 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Crear el 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Graph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548640" y="2743200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Ontologia.ttl+ Datos JSON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365760" y="128016"/>
            <a:ext cx="8412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KG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¿Qué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tiene preferencia sobre qué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22"/>
          <p:cNvCxnSpPr/>
          <p:nvPr/>
        </p:nvCxnSpPr>
        <p:spPr>
          <a:xfrm>
            <a:off x="365760" y="786384"/>
            <a:ext cx="841260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22"/>
          <p:cNvSpPr/>
          <p:nvPr/>
        </p:nvSpPr>
        <p:spPr>
          <a:xfrm>
            <a:off x="365760" y="91440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Orden de prioridad a la hora de rellenar el grafo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320040" y="1371600"/>
            <a:ext cx="420630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320040" y="1371600"/>
            <a:ext cx="639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457200" y="1426464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1. Información extraida del paper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4754880" y="1371600"/>
            <a:ext cx="420630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4754880" y="1371600"/>
            <a:ext cx="63900" cy="9144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4892040" y="1426464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Input de los datos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4892040" y="1700784"/>
            <a:ext cx="3931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Los diversos JSON generados previamente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320040" y="2395728"/>
            <a:ext cx="420630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320040" y="2395728"/>
            <a:ext cx="63900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457200" y="2450592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2. Información añadida por nosotros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457200" y="2724912"/>
            <a:ext cx="3931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Los NER, los 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cálculos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de pyclustering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4754880" y="2395728"/>
            <a:ext cx="420630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4754880" y="2395728"/>
            <a:ext cx="63900" cy="9144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4892040" y="2450592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Input de la ontología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4892040" y="2724912"/>
            <a:ext cx="3931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El archivo Turtle encontrado dentr de la carpeta de Ontologia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320040" y="3419856"/>
            <a:ext cx="420630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320040" y="3419856"/>
            <a:ext cx="63900" cy="9144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457200" y="3474720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-US" sz="1150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 Información externa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457200" y="3749040"/>
            <a:ext cx="3931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datos sacados de Orcid Wikidata y OpenAlex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4754880" y="3419856"/>
            <a:ext cx="420630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4754880" y="3419856"/>
            <a:ext cx="63900" cy="9144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4892040" y="3474720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Output del servicio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4892040" y="3749040"/>
            <a:ext cx="3931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knowledge_graph_final.ttl  </a:t>
            </a:r>
            <a:endParaRPr sz="95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418365" y="1737309"/>
            <a:ext cx="3931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 que sacamos de pyextractdata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3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RO-Crate  Provenance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El experimento como Research Object FAIR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4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RO-Crate </a:t>
            </a:r>
            <a:r>
              <a:rPr b="1" lang="en-US" sz="2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¿Qué empaqueta y por qué?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p24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2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ro_crate.py construye el descriptor ro-crate-metadata.json con la librería rocrate-py: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320040" y="1371600"/>
            <a:ext cx="420624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320040" y="1371600"/>
            <a:ext cx="64008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457200" y="14264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Identidad del experimento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457200" y="1700784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Nombre, versión, licencia 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MIT,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fecha,  keywords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4754880" y="1371600"/>
            <a:ext cx="420624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4"/>
          <p:cNvSpPr/>
          <p:nvPr/>
        </p:nvSpPr>
        <p:spPr>
          <a:xfrm>
            <a:off x="4754880" y="1371600"/>
            <a:ext cx="64008" cy="9144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4892040" y="142646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Autores + ORCID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4892040" y="1700784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 personas con orcid.org/…  afiliación UPM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320040" y="2395728"/>
            <a:ext cx="420624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4"/>
          <p:cNvSpPr/>
          <p:nvPr/>
        </p:nvSpPr>
        <p:spPr>
          <a:xfrm>
            <a:off x="320040" y="2395728"/>
            <a:ext cx="64008" cy="9144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4"/>
          <p:cNvSpPr/>
          <p:nvPr/>
        </p:nvSpPr>
        <p:spPr>
          <a:xfrm>
            <a:off x="457200" y="24505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Ficheros de código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457200" y="2724912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README  use_case  selected_apis  docker-compose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4754880" y="2395728"/>
            <a:ext cx="420624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4"/>
          <p:cNvSpPr/>
          <p:nvPr/>
        </p:nvSpPr>
        <p:spPr>
          <a:xfrm>
            <a:off x="4754880" y="2395728"/>
            <a:ext cx="64008" cy="9144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4892040" y="24505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Módulos Python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4892040" y="2724912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pygrobid,  pyextractdata,  pyorcid,  pywikidata,  pyopenalex,  pyclustering, pykg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320040" y="3419856"/>
            <a:ext cx="420624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4"/>
          <p:cNvSpPr/>
          <p:nvPr/>
        </p:nvSpPr>
        <p:spPr>
          <a:xfrm>
            <a:off x="320040" y="3419856"/>
            <a:ext cx="64008" cy="9144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457200" y="3474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Outputs de datos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457200" y="3749040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knowledge_graph.</a:t>
            </a: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similarity.json  topics.json  paper_topics.json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4754880" y="3419856"/>
            <a:ext cx="4206240" cy="9144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4"/>
          <p:cNvSpPr/>
          <p:nvPr/>
        </p:nvSpPr>
        <p:spPr>
          <a:xfrm>
            <a:off x="4754880" y="3419856"/>
            <a:ext cx="64008" cy="9144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4"/>
          <p:cNvSpPr/>
          <p:nvPr/>
        </p:nvSpPr>
        <p:spPr>
          <a:xfrm>
            <a:off x="4892040" y="3474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Servicios externos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4892040" y="3749040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Grobid,  ORCID API,  Wikidata SPARQL,  OpenAlex,  HuggingFace models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5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Ciencia Abierta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FAIR  Reproducibilidad  Software Abierto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6"/>
          <p:cNvSpPr/>
          <p:nvPr/>
        </p:nvSpPr>
        <p:spPr>
          <a:xfrm>
            <a:off x="365760" y="128016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Best Practices aplicadas en la herramienta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26"/>
          <p:cNvCxnSpPr/>
          <p:nvPr/>
        </p:nvCxnSpPr>
        <p:spPr>
          <a:xfrm>
            <a:off x="365760" y="786384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26"/>
          <p:cNvSpPr/>
          <p:nvPr/>
        </p:nvSpPr>
        <p:spPr>
          <a:xfrm>
            <a:off x="320040" y="960120"/>
            <a:ext cx="4069080" cy="11430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6"/>
          <p:cNvSpPr/>
          <p:nvPr/>
        </p:nvSpPr>
        <p:spPr>
          <a:xfrm>
            <a:off x="320040" y="960120"/>
            <a:ext cx="64008" cy="1143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6"/>
          <p:cNvSpPr/>
          <p:nvPr/>
        </p:nvSpPr>
        <p:spPr>
          <a:xfrm>
            <a:off x="457200" y="10515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Findable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457200" y="1399032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ORCID IDs en autores. DOIs en papers. OpenAlex IDs. Metadata en RO-Crate con keywords detallados.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4617720" y="960120"/>
            <a:ext cx="4069080" cy="11430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6"/>
          <p:cNvSpPr/>
          <p:nvPr/>
        </p:nvSpPr>
        <p:spPr>
          <a:xfrm>
            <a:off x="4617720" y="960120"/>
            <a:ext cx="64008" cy="1143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6"/>
          <p:cNvSpPr/>
          <p:nvPr/>
        </p:nvSpPr>
        <p:spPr>
          <a:xfrm>
            <a:off x="4754880" y="10515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Accessible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4754880" y="1399032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Código MIT en GitHub. APIs usadas 100% abiertas. Modelo sentence-transformers con licencia </a:t>
            </a: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320040" y="2240280"/>
            <a:ext cx="4069080" cy="11430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6"/>
          <p:cNvSpPr/>
          <p:nvPr/>
        </p:nvSpPr>
        <p:spPr>
          <a:xfrm>
            <a:off x="320040" y="2240280"/>
            <a:ext cx="64008" cy="1143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6"/>
          <p:cNvSpPr/>
          <p:nvPr/>
        </p:nvSpPr>
        <p:spPr>
          <a:xfrm>
            <a:off x="457200" y="23317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Interoperable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457200" y="2679192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KG en RDF/Turtle con vocabulario schema.org. RO-Crate standard. SPARQL sobre Wikidata.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4617720" y="2240280"/>
            <a:ext cx="4069080" cy="11430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6"/>
          <p:cNvSpPr/>
          <p:nvPr/>
        </p:nvSpPr>
        <p:spPr>
          <a:xfrm>
            <a:off x="4617720" y="2240280"/>
            <a:ext cx="64008" cy="1143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6"/>
          <p:cNvSpPr/>
          <p:nvPr/>
        </p:nvSpPr>
        <p:spPr>
          <a:xfrm>
            <a:off x="4754880" y="23317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Reusable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4754880" y="2679192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Docker garantiza reproducibilidad total. docker-compose one-command run.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320040" y="3520440"/>
            <a:ext cx="4069080" cy="11430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6"/>
          <p:cNvSpPr/>
          <p:nvPr/>
        </p:nvSpPr>
        <p:spPr>
          <a:xfrm>
            <a:off x="320040" y="3520440"/>
            <a:ext cx="64008" cy="1143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6"/>
          <p:cNvSpPr/>
          <p:nvPr/>
        </p:nvSpPr>
        <p:spPr>
          <a:xfrm>
            <a:off x="457200" y="36118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Provenance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457200" y="3959352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RO-Crate documenta cada módulo, input, output y agente. Trazabilidad completa del pipeline.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4617720" y="3520440"/>
            <a:ext cx="4069080" cy="1143000"/>
          </a:xfrm>
          <a:prstGeom prst="rect">
            <a:avLst/>
          </a:prstGeom>
          <a:solidFill>
            <a:srgbClr val="F0FB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4617720" y="3520440"/>
            <a:ext cx="64008" cy="1143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6"/>
          <p:cNvSpPr/>
          <p:nvPr/>
        </p:nvSpPr>
        <p:spPr>
          <a:xfrm>
            <a:off x="4754880" y="36118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Open Software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4754880" y="3959352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Grobid, BERTopic, KeyBERT, sentence-transformers, RoBERTa y rdflib son todos open-source.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7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59436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ahora una Demo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